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73" r:id="rId10"/>
    <p:sldId id="263" r:id="rId11"/>
    <p:sldId id="264" r:id="rId12"/>
    <p:sldId id="265" r:id="rId13"/>
    <p:sldId id="274" r:id="rId14"/>
    <p:sldId id="276" r:id="rId15"/>
    <p:sldId id="277" r:id="rId16"/>
    <p:sldId id="278" r:id="rId17"/>
    <p:sldId id="266" r:id="rId18"/>
    <p:sldId id="279" r:id="rId19"/>
    <p:sldId id="280" r:id="rId20"/>
    <p:sldId id="281" r:id="rId21"/>
    <p:sldId id="275" r:id="rId22"/>
    <p:sldId id="268" r:id="rId23"/>
    <p:sldId id="269" r:id="rId24"/>
    <p:sldId id="270" r:id="rId25"/>
    <p:sldId id="271" r:id="rId26"/>
  </p:sldIdLst>
  <p:sldSz cx="12192000" cy="6858000"/>
  <p:notesSz cx="6858000" cy="9144000"/>
  <p:embeddedFontLst>
    <p:embeddedFont>
      <p:font typeface="Arial Unicode MS" pitchFamily="34" charset="-128"/>
      <p:regular r:id="rId28"/>
    </p:embeddedFont>
    <p:embeddedFont>
      <p:font typeface="Libre Franklin" charset="0"/>
      <p:regular r:id="rId29"/>
      <p:bold r:id="rId30"/>
      <p:italic r:id="rId31"/>
      <p:boldItalic r:id="rId32"/>
    </p:embeddedFont>
    <p:embeddedFont>
      <p:font typeface="Franklin Gothic" charset="0"/>
      <p:bold r:id="rId33"/>
    </p:embeddedFont>
    <p:embeddedFont>
      <p:font typeface="Calibri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Ue/c+JnQAPxaldA9GR3REzOn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695" autoAdjust="0"/>
  </p:normalViewPr>
  <p:slideViewPr>
    <p:cSldViewPr>
      <p:cViewPr>
        <p:scale>
          <a:sx n="89" d="100"/>
          <a:sy n="89" d="100"/>
        </p:scale>
        <p:origin x="-326" y="-1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51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78538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c41472d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c41472df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0c41472df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c41472d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c41472df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0c41472df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c41472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0c41472df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e0c41472df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0c41472d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0c41472d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0c41472df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6896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 b="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581193" y="1391479"/>
            <a:ext cx="5194767" cy="446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2"/>
          </p:nvPr>
        </p:nvSpPr>
        <p:spPr>
          <a:xfrm>
            <a:off x="6416039" y="1391479"/>
            <a:ext cx="5194769" cy="446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3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4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sz="24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2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2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 rot="5400000">
            <a:off x="3809574" y="-1813184"/>
            <a:ext cx="4572852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7914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marL="914400" lvl="1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marL="1371600" lvl="2" indent="-304546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marL="1828800" lvl="3" indent="-292862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marL="2286000" lvl="4" indent="-292862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27914" algn="l" rtl="0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10388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54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9286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286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98704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13" descr="Logo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85003" y="6437910"/>
            <a:ext cx="1125805" cy="3651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akenewsprediction-bypcfqzvadveqzfzvx6tkd.streamlit.ap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%5d(https:/www.kaggle.com/)" TargetMode="External"/><Relationship Id="rId3" Type="http://schemas.openxmlformats.org/officeDocument/2006/relationships/hyperlink" Target="https://www.tensorflow.org/%5d(https:/www.tensorflow.org/)" TargetMode="External"/><Relationship Id="rId7" Type="http://schemas.openxmlformats.org/officeDocument/2006/relationships/hyperlink" Target="https://nlp.stanford.edu/projects/glove/%5d(https:/nlp.stanford.edu/projects/glove/)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%5d(https:/scikit-learn.org/)" TargetMode="External"/><Relationship Id="rId5" Type="http://schemas.openxmlformats.org/officeDocument/2006/relationships/hyperlink" Target="https://www.nltk.org/%5d(https:/www.nltk.org/)" TargetMode="External"/><Relationship Id="rId4" Type="http://schemas.openxmlformats.org/officeDocument/2006/relationships/hyperlink" Target="https://keras.io/%5d(https:/keras.io/)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FAKE NEWS DETECTOR FOR STUDENTS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202196" y="4058588"/>
            <a:ext cx="79803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Student Name- </a:t>
            </a:r>
            <a:r>
              <a:rPr lang="en-US" sz="2000" b="1">
                <a:solidFill>
                  <a:srgbClr val="1482AB"/>
                </a:solidFill>
              </a:rPr>
              <a:t>IPSITA CHOWDHURY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College Name-  </a:t>
            </a:r>
            <a:r>
              <a:rPr lang="en-US" sz="2000" b="1">
                <a:solidFill>
                  <a:srgbClr val="1482AB"/>
                </a:solidFill>
              </a:rPr>
              <a:t>Narula Institute Of Technology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Department- CSE </a:t>
            </a:r>
            <a:r>
              <a:rPr lang="en-US" sz="2000" b="1">
                <a:solidFill>
                  <a:srgbClr val="1482AB"/>
                </a:solidFill>
              </a:rPr>
              <a:t>(Data Science)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849573" y="1025495"/>
            <a:ext cx="10515600" cy="85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lang="en-US" b="1" dirty="0" smtClean="0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OUTLINE: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838200" y="1618938"/>
            <a:ext cx="11019020" cy="5239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  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Problem Statement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Proposed System/Solution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System Development Approach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(Technology Used) 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Algorithm &amp; Deployment  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Result</a:t>
            </a:r>
            <a:endParaRPr dirty="0"/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Conclusion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Future Scope</a:t>
            </a:r>
            <a:endParaRPr dirty="0"/>
          </a:p>
          <a:p>
            <a:pPr marL="306000" lvl="0" indent="-306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References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06000" lvl="0" indent="-206686" algn="l" rtl="0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40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452403" y="1237632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lang="en-US" sz="1800" dirty="0"/>
              <a:t>Misinformation spreads quickly through online news and social media, making it hard for students to differentiate between reliable and fake information. There is a need for an AI solution that can analyze articles, assess credibility, and provide concise, trustworthy summaries to prevent the spread of false information</a:t>
            </a:r>
            <a:r>
              <a:rPr lang="en-US" sz="2400" dirty="0" smtClean="0"/>
              <a:t>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 smtClean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 smtClean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 smtClean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lang="en-US" sz="24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endParaRPr sz="1400" dirty="0"/>
          </a:p>
        </p:txBody>
      </p:sp>
      <p:pic>
        <p:nvPicPr>
          <p:cNvPr id="1026" name="Picture 2" descr="C:\Users\HP\OneDrive\Pictures\Screenshots\Screenshot 2026-06-13 14265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743200"/>
            <a:ext cx="10744200" cy="338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4400" dirty="0"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492946" y="1343753"/>
            <a:ext cx="11613485" cy="528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3444" indent="0">
              <a:buNone/>
            </a:pPr>
            <a:r>
              <a:rPr lang="en-US" b="1" dirty="0" smtClean="0"/>
              <a:t>1.Collect </a:t>
            </a:r>
            <a:r>
              <a:rPr lang="en-US" b="1" dirty="0"/>
              <a:t>News Data</a:t>
            </a:r>
            <a:r>
              <a:rPr lang="en-US" dirty="0"/>
              <a:t> :</a:t>
            </a: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Gather </a:t>
            </a:r>
            <a:r>
              <a:rPr lang="en-US" dirty="0"/>
              <a:t>real and fake news articles from reliable datasets.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Label the data as "Real" or "Fake". </a:t>
            </a:r>
          </a:p>
          <a:p>
            <a:pPr marL="123444" indent="0">
              <a:buNone/>
            </a:pPr>
            <a:r>
              <a:rPr lang="en-US" b="1" dirty="0" smtClean="0"/>
              <a:t>2. Preprocess </a:t>
            </a:r>
            <a:r>
              <a:rPr lang="en-US" b="1" dirty="0"/>
              <a:t>the </a:t>
            </a:r>
            <a:r>
              <a:rPr lang="en-US" b="1" dirty="0" smtClean="0"/>
              <a:t>Text: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Remove special characters, punctuation, and </a:t>
            </a:r>
            <a:r>
              <a:rPr lang="en-US" dirty="0" err="1"/>
              <a:t>stopwords</a:t>
            </a:r>
            <a:r>
              <a:rPr 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Convert text into a clean format suitable for analysis. </a:t>
            </a:r>
          </a:p>
          <a:p>
            <a:pPr marL="123444" indent="0">
              <a:buNone/>
            </a:pPr>
            <a:r>
              <a:rPr lang="en-US" b="1" dirty="0" smtClean="0"/>
              <a:t>3. Feature </a:t>
            </a:r>
            <a:r>
              <a:rPr lang="en-US" b="1" dirty="0"/>
              <a:t>Extraction</a:t>
            </a:r>
            <a:r>
              <a:rPr lang="en-US" dirty="0"/>
              <a:t> 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Apply </a:t>
            </a:r>
            <a:r>
              <a:rPr lang="en-US" b="1" dirty="0"/>
              <a:t>TF-IDF (Term Frequency-Inverse Document Frequency)</a:t>
            </a:r>
            <a:r>
              <a:rPr lang="en-US" dirty="0"/>
              <a:t> to convert text into numerical features.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Capture important words and patterns from news articles. </a:t>
            </a:r>
          </a:p>
          <a:p>
            <a:pPr marL="123444" indent="0">
              <a:buNone/>
            </a:pPr>
            <a:r>
              <a:rPr lang="en-US" b="1" dirty="0" smtClean="0"/>
              <a:t>4. Train </a:t>
            </a:r>
            <a:r>
              <a:rPr lang="en-US" b="1" dirty="0"/>
              <a:t>a Machine Learning </a:t>
            </a:r>
            <a:r>
              <a:rPr lang="en-US" b="1" dirty="0" smtClean="0"/>
              <a:t>Model: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Use </a:t>
            </a:r>
            <a:r>
              <a:rPr lang="en-US" b="1" dirty="0"/>
              <a:t>Logistic Regression</a:t>
            </a:r>
            <a:r>
              <a:rPr lang="en-US" dirty="0"/>
              <a:t> to learn patterns from real and fake news.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Train the model using the processed dataset. </a:t>
            </a:r>
          </a:p>
          <a:p>
            <a:pPr marL="123444" indent="0">
              <a:buNone/>
            </a:pPr>
            <a:r>
              <a:rPr lang="en-US" b="1" dirty="0" smtClean="0"/>
              <a:t>5. Evaluate </a:t>
            </a:r>
            <a:r>
              <a:rPr lang="en-US" b="1" dirty="0"/>
              <a:t>Model Performance</a:t>
            </a:r>
            <a:r>
              <a:rPr lang="en-US" dirty="0"/>
              <a:t> 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Measure </a:t>
            </a:r>
            <a:r>
              <a:rPr lang="en-US" dirty="0"/>
              <a:t>accuracy, precision, recall, and F1-score.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Generate a confusion matrix to analyze predictions. 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295400"/>
            <a:ext cx="11029615" cy="5122492"/>
          </a:xfrm>
        </p:spPr>
        <p:txBody>
          <a:bodyPr>
            <a:normAutofit fontScale="92500" lnSpcReduction="20000"/>
          </a:bodyPr>
          <a:lstStyle/>
          <a:p>
            <a:pPr marL="123444" indent="0">
              <a:buNone/>
            </a:pPr>
            <a:endParaRPr lang="en-US" b="1" dirty="0" smtClean="0"/>
          </a:p>
          <a:p>
            <a:pPr marL="123444" indent="0">
              <a:buNone/>
            </a:pPr>
            <a:endParaRPr lang="en-US" b="1" dirty="0" smtClean="0"/>
          </a:p>
          <a:p>
            <a:pPr marL="123444" indent="0">
              <a:buNone/>
            </a:pPr>
            <a:r>
              <a:rPr lang="en-US" b="1" dirty="0" smtClean="0"/>
              <a:t>6. Develop </a:t>
            </a:r>
            <a:r>
              <a:rPr lang="en-US" b="1" dirty="0"/>
              <a:t>a User-Friendly Web </a:t>
            </a:r>
            <a:r>
              <a:rPr lang="en-US" b="1" dirty="0" smtClean="0"/>
              <a:t>Application :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Build </a:t>
            </a:r>
            <a:r>
              <a:rPr lang="en-US" dirty="0"/>
              <a:t>an interactive interface using </a:t>
            </a:r>
            <a:r>
              <a:rPr lang="en-US" b="1" dirty="0" err="1" smtClean="0"/>
              <a:t>Streamlit</a:t>
            </a:r>
            <a:r>
              <a:rPr lang="en-US" b="1" dirty="0" smtClean="0"/>
              <a:t> .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Allow </a:t>
            </a:r>
            <a:r>
              <a:rPr lang="en-US" dirty="0"/>
              <a:t>users to enter or paste news articles. </a:t>
            </a:r>
          </a:p>
          <a:p>
            <a:pPr marL="123444" indent="0">
              <a:buNone/>
            </a:pPr>
            <a:r>
              <a:rPr lang="en-US" b="1" dirty="0" smtClean="0"/>
              <a:t>7. Predict </a:t>
            </a:r>
            <a:r>
              <a:rPr lang="en-US" b="1" dirty="0"/>
              <a:t>News Authenticity</a:t>
            </a:r>
            <a:r>
              <a:rPr lang="en-US" dirty="0"/>
              <a:t> 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Process </a:t>
            </a:r>
            <a:r>
              <a:rPr lang="en-US" dirty="0"/>
              <a:t>the user input through the trained model.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Classify the news as: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✅ Real News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❌ Fake News </a:t>
            </a:r>
          </a:p>
          <a:p>
            <a:pPr marL="123444" indent="0">
              <a:buNone/>
            </a:pPr>
            <a:r>
              <a:rPr lang="en-US" b="1" dirty="0" smtClean="0"/>
              <a:t>8. Display </a:t>
            </a:r>
            <a:r>
              <a:rPr lang="en-US" b="1" dirty="0"/>
              <a:t>Confidence Score</a:t>
            </a:r>
            <a:r>
              <a:rPr lang="en-US" dirty="0"/>
              <a:t> </a:t>
            </a:r>
            <a:r>
              <a:rPr lang="en-US" dirty="0" smtClean="0"/>
              <a:t>:</a:t>
            </a:r>
          </a:p>
          <a:p>
            <a:pPr marL="123444" indent="0">
              <a:buNone/>
            </a:pPr>
            <a:r>
              <a:rPr lang="en-US" dirty="0" smtClean="0"/>
              <a:t>Show </a:t>
            </a:r>
            <a:r>
              <a:rPr lang="en-US" dirty="0"/>
              <a:t>the prediction confidence to help users understand the model's certainty. </a:t>
            </a:r>
          </a:p>
          <a:p>
            <a:pPr marL="123444" indent="0">
              <a:buNone/>
            </a:pPr>
            <a:r>
              <a:rPr lang="en-US" b="1" dirty="0" smtClean="0"/>
              <a:t>9. Deploy </a:t>
            </a:r>
            <a:r>
              <a:rPr lang="en-US" b="1" dirty="0"/>
              <a:t>the Application </a:t>
            </a:r>
            <a:r>
              <a:rPr lang="en-US" b="1" dirty="0" smtClean="0"/>
              <a:t>Online: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Host the application using </a:t>
            </a:r>
            <a:r>
              <a:rPr lang="en-US" b="1" dirty="0" err="1"/>
              <a:t>Streamlit</a:t>
            </a:r>
            <a:r>
              <a:rPr lang="en-US" b="1" dirty="0"/>
              <a:t> Community Cloud</a:t>
            </a:r>
            <a:r>
              <a:rPr 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Provide a public link accessible to users and examiners. </a:t>
            </a:r>
            <a:endParaRPr lang="en-US" dirty="0" smtClean="0"/>
          </a:p>
          <a:p>
            <a:pPr marL="123444" indent="0">
              <a:buNone/>
            </a:pPr>
            <a:r>
              <a:rPr lang="en-US" b="1" dirty="0" smtClean="0"/>
              <a:t>10. Support </a:t>
            </a:r>
            <a:r>
              <a:rPr lang="en-US" b="1" dirty="0"/>
              <a:t>Informed Decision-Making</a:t>
            </a:r>
            <a:r>
              <a:rPr lang="en-US" dirty="0"/>
              <a:t> 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Help </a:t>
            </a:r>
            <a:r>
              <a:rPr lang="en-US" dirty="0"/>
              <a:t>users identify potentially misleading news.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Promote </a:t>
            </a:r>
            <a:r>
              <a:rPr lang="en-US" dirty="0"/>
              <a:t>awareness and reduce the spread of misinformation</a:t>
            </a:r>
          </a:p>
          <a:p>
            <a:pPr marL="123444" indent="0">
              <a:buNone/>
            </a:pPr>
            <a:endParaRPr lang="en-US" dirty="0"/>
          </a:p>
          <a:p>
            <a:pPr marL="123444" indent="0">
              <a:buNone/>
            </a:pPr>
            <a:endParaRPr lang="en-US" dirty="0"/>
          </a:p>
          <a:p>
            <a:pPr marL="123444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6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SYSTEM  APPROACH</a:t>
            </a:r>
            <a:endParaRPr sz="4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581650" y="9270624"/>
            <a:ext cx="1060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 rot="10800000" flipH="1">
            <a:off x="495875" y="5692450"/>
            <a:ext cx="10584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4" name="Google Shape;124;p5"/>
          <p:cNvSpPr txBox="1"/>
          <p:nvPr/>
        </p:nvSpPr>
        <p:spPr>
          <a:xfrm rot="10800000" flipH="1">
            <a:off x="1829775" y="5271975"/>
            <a:ext cx="7554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307648" y="1100561"/>
            <a:ext cx="11565308" cy="484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3324" y="593195"/>
            <a:ext cx="11479631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1. Data Collection: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Collect Real News and Fake News datasets.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Store data in CSV format 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True.csv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and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Fake.csv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2. Data Preprocessing: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Remove punctuation, special characters, and irrelevant words.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Convert text to lowercase.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Remove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stopwords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using NLTK.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Apply stemming for text normalization.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3. Feature Extraction: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Use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TF-IDF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Vectorization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to transform textual data into numerical vectors.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Identify important words and their significance in news articles.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4. Model Training: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Split dataset into training</a:t>
            </a: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000" dirty="0"/>
              <a:t>Train the model using </a:t>
            </a:r>
            <a:r>
              <a:rPr lang="en-US" sz="2000" b="1" dirty="0"/>
              <a:t>Logistic Regression</a:t>
            </a:r>
            <a:r>
              <a:rPr lang="en-US" sz="2000" dirty="0"/>
              <a:t>. </a:t>
            </a: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000" dirty="0"/>
              <a:t>Learn patterns that distinguish real news from fake news.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endParaRPr lang="en-US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Ø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c41472df_0_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SYSTEM APPROACH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132" name="Google Shape;132;g3e0c41472df_0_30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11077292" cy="437522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123444" indent="0">
              <a:buNone/>
            </a:pPr>
            <a:r>
              <a:rPr lang="en-US" b="1" dirty="0"/>
              <a:t>5. Model Evaluation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Calculate: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Accuracy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Precision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Recall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F1-Score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Generate Confusion Matrix for performance analysis. </a:t>
            </a:r>
          </a:p>
          <a:p>
            <a:pPr marL="123444" indent="0">
              <a:buNone/>
            </a:pPr>
            <a:r>
              <a:rPr lang="en-US" b="1" dirty="0"/>
              <a:t>6. Model Serialization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Save trained model as: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fake_news_model.pkl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Save </a:t>
            </a:r>
            <a:r>
              <a:rPr lang="en-US" dirty="0" err="1"/>
              <a:t>vectorizer</a:t>
            </a:r>
            <a:r>
              <a:rPr lang="en-US" dirty="0"/>
              <a:t> as: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vectorizer.pkl</a:t>
            </a:r>
            <a:r>
              <a:rPr lang="en-US" dirty="0"/>
              <a:t> </a:t>
            </a:r>
          </a:p>
          <a:p>
            <a:pPr marL="123444" indent="0">
              <a:buNone/>
            </a:pPr>
            <a:r>
              <a:rPr lang="en-US" b="1" dirty="0"/>
              <a:t>7. Web Application Development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Create an interactive user interface using </a:t>
            </a:r>
            <a:r>
              <a:rPr lang="en-US" b="1" dirty="0" err="1"/>
              <a:t>Streamlit</a:t>
            </a:r>
            <a:r>
              <a:rPr lang="en-US" dirty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Allow users to input news text. 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0c41472df_0_3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chemeClr val="accent1"/>
                </a:solidFill>
              </a:rPr>
              <a:t>SYSTEM APPROACH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39" name="Google Shape;139;g3e0c41472df_0_37"/>
          <p:cNvSpPr txBox="1"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 smtClean="0"/>
          </a:p>
          <a:p>
            <a:pPr marL="123444" indent="0">
              <a:buNone/>
            </a:pPr>
            <a:r>
              <a:rPr lang="en-US" b="1" dirty="0" smtClean="0"/>
              <a:t>8</a:t>
            </a:r>
            <a:r>
              <a:rPr lang="en-US" b="1" dirty="0"/>
              <a:t>. Prediction </a:t>
            </a:r>
            <a:r>
              <a:rPr lang="en-US" b="1" dirty="0" smtClean="0"/>
              <a:t>Process:</a:t>
            </a: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User enters a news article.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Text is preprocessed.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TF-IDF </a:t>
            </a:r>
            <a:r>
              <a:rPr lang="en-US" dirty="0" err="1"/>
              <a:t>vectorizer</a:t>
            </a:r>
            <a:r>
              <a:rPr lang="en-US" dirty="0"/>
              <a:t> converts text into features.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Logistic Regression model predicts: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Real News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Fake News </a:t>
            </a:r>
          </a:p>
          <a:p>
            <a:pPr marL="123444" indent="0">
              <a:buNone/>
            </a:pPr>
            <a:r>
              <a:rPr lang="en-US" b="1" dirty="0"/>
              <a:t>9. Result </a:t>
            </a:r>
            <a:r>
              <a:rPr lang="en-US" b="1" dirty="0" smtClean="0"/>
              <a:t>Display :</a:t>
            </a: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Show prediction result.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Display confidence score.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Provide user-friendly output. </a:t>
            </a:r>
          </a:p>
          <a:p>
            <a:pPr marL="123444" indent="0">
              <a:buNone/>
            </a:pPr>
            <a:r>
              <a:rPr lang="en-US" b="1" dirty="0"/>
              <a:t>10. Cloud </a:t>
            </a:r>
            <a:r>
              <a:rPr lang="en-US" b="1" dirty="0" smtClean="0"/>
              <a:t>Deployment :</a:t>
            </a: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Upload project to </a:t>
            </a:r>
            <a:r>
              <a:rPr lang="en-US" dirty="0" err="1"/>
              <a:t>GitHub</a:t>
            </a:r>
            <a:r>
              <a:rPr lang="en-US" dirty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Deploy on </a:t>
            </a:r>
            <a:r>
              <a:rPr lang="en-US" dirty="0" err="1"/>
              <a:t>Streamlit</a:t>
            </a:r>
            <a:r>
              <a:rPr lang="en-US" dirty="0"/>
              <a:t> Community Cloud.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Generate a public URL for users and examiners. </a:t>
            </a:r>
          </a:p>
          <a:p>
            <a:pPr lvl="0">
              <a:buFont typeface="Wingdings" pitchFamily="2" charset="2"/>
              <a:buChar char="Ø"/>
            </a:pPr>
            <a:endParaRPr lang="en-US" dirty="0" smtClean="0"/>
          </a:p>
          <a:p>
            <a:pPr lvl="0"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3444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Technologies </a:t>
            </a:r>
            <a:r>
              <a:rPr lang="en-US" b="1" dirty="0" smtClean="0">
                <a:solidFill>
                  <a:schemeClr val="accent1"/>
                </a:solidFill>
              </a:rPr>
              <a:t>Used: 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802424"/>
              </p:ext>
            </p:extLst>
          </p:nvPr>
        </p:nvGraphicFramePr>
        <p:xfrm>
          <a:off x="581025" y="1371597"/>
          <a:ext cx="11029950" cy="449580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514975"/>
                <a:gridCol w="5514975"/>
              </a:tblGrid>
              <a:tr h="345831">
                <a:tc>
                  <a:txBody>
                    <a:bodyPr/>
                    <a:lstStyle/>
                    <a:p>
                      <a:r>
                        <a:rPr lang="en-US" b="1" i="1" u="sng" dirty="0" smtClean="0"/>
                        <a:t>Component</a:t>
                      </a:r>
                      <a:endParaRPr lang="en-US" b="1" i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i="1" u="sng" dirty="0"/>
                        <a:t>Technology Used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Scikit-Learn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NLP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NLTK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Data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Pandas, NumPy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 dirty="0"/>
                        <a:t>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TF-IDF Vectorizer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 dirty="0"/>
                        <a:t>Classification </a:t>
                      </a:r>
                      <a:r>
                        <a:rPr lang="en-US" dirty="0" smtClean="0"/>
                        <a:t>Algorithm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Model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Pickle (.pkl)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Matplotlib, Seaborn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 dirty="0"/>
                        <a:t>Development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Colab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 dirty="0"/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GitHub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Web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Streamlit</a:t>
                      </a:r>
                    </a:p>
                  </a:txBody>
                  <a:tcPr anchor="ctr"/>
                </a:tc>
              </a:tr>
              <a:tr h="345831">
                <a:tc>
                  <a:txBody>
                    <a:bodyPr/>
                    <a:lstStyle/>
                    <a:p>
                      <a:r>
                        <a:rPr lang="en-US"/>
                        <a:t>Cloud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Streamlit</a:t>
                      </a:r>
                      <a:r>
                        <a:rPr lang="en-US" dirty="0"/>
                        <a:t> Community Cloud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89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 dirty="0"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10591800" cy="4729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23444" indent="0">
              <a:buNone/>
            </a:pPr>
            <a:r>
              <a:rPr lang="en-US" sz="1400" b="1" dirty="0" smtClean="0"/>
              <a:t>Algorithm Used: Logistic </a:t>
            </a:r>
            <a:r>
              <a:rPr lang="en-US" sz="1400" b="1" dirty="0"/>
              <a:t>Regression Algorithm</a:t>
            </a:r>
          </a:p>
          <a:p>
            <a:pPr>
              <a:buFont typeface="Wingdings" pitchFamily="2" charset="2"/>
              <a:buChar char="§"/>
            </a:pPr>
            <a:r>
              <a:rPr lang="en-US" sz="1400" b="1" dirty="0"/>
              <a:t>Why Logistic Regression?</a:t>
            </a:r>
            <a:endParaRPr lang="en-US" sz="1400" dirty="0"/>
          </a:p>
          <a:p>
            <a:pPr>
              <a:buFont typeface="Wingdings" pitchFamily="2" charset="2"/>
              <a:buChar char="§"/>
            </a:pPr>
            <a:r>
              <a:rPr lang="en-US" sz="1400" dirty="0"/>
              <a:t>Efficient for text classification problems. </a:t>
            </a:r>
          </a:p>
          <a:p>
            <a:pPr>
              <a:buFont typeface="Wingdings" pitchFamily="2" charset="2"/>
              <a:buChar char="§"/>
            </a:pPr>
            <a:r>
              <a:rPr lang="en-US" sz="1400" dirty="0"/>
              <a:t>Works well with TF-IDF features. </a:t>
            </a:r>
          </a:p>
          <a:p>
            <a:pPr>
              <a:buFont typeface="Wingdings" pitchFamily="2" charset="2"/>
              <a:buChar char="§"/>
            </a:pPr>
            <a:r>
              <a:rPr lang="en-US" sz="1400" dirty="0"/>
              <a:t>Provides probability scores for predictions. </a:t>
            </a:r>
          </a:p>
          <a:p>
            <a:pPr>
              <a:buFont typeface="Wingdings" pitchFamily="2" charset="2"/>
              <a:buChar char="§"/>
            </a:pPr>
            <a:r>
              <a:rPr lang="en-US" sz="1400" dirty="0"/>
              <a:t>Fast training and prediction speed. </a:t>
            </a:r>
          </a:p>
          <a:p>
            <a:pPr marL="123444" indent="0">
              <a:buNone/>
            </a:pPr>
            <a:r>
              <a:rPr lang="en-US" sz="1400" b="1" i="1" u="sng" dirty="0"/>
              <a:t>Working of the </a:t>
            </a:r>
            <a:r>
              <a:rPr lang="en-US" sz="1400" b="1" i="1" u="sng" dirty="0" smtClean="0"/>
              <a:t>Algorithm</a:t>
            </a:r>
            <a:r>
              <a:rPr lang="en-US" sz="1400" b="1" u="sng" dirty="0" smtClean="0"/>
              <a:t>:</a:t>
            </a:r>
            <a:endParaRPr lang="en-US" sz="1400" b="1" u="sng" dirty="0"/>
          </a:p>
          <a:p>
            <a:pPr marL="123444" indent="0">
              <a:buNone/>
            </a:pPr>
            <a:r>
              <a:rPr lang="en-US" sz="1400" b="1" dirty="0" smtClean="0"/>
              <a:t>1. Input </a:t>
            </a:r>
            <a:r>
              <a:rPr lang="en-US" sz="1400" b="1" dirty="0"/>
              <a:t>News Text</a:t>
            </a:r>
            <a:r>
              <a:rPr lang="en-US" sz="1400" dirty="0"/>
              <a:t> </a:t>
            </a:r>
            <a:r>
              <a:rPr lang="en-US" sz="1400" dirty="0" smtClean="0"/>
              <a:t>:</a:t>
            </a:r>
            <a:endParaRPr lang="en-US" sz="1400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User enters a news article. </a:t>
            </a:r>
          </a:p>
          <a:p>
            <a:pPr marL="123444" indent="0">
              <a:buNone/>
            </a:pPr>
            <a:r>
              <a:rPr lang="en-US" sz="1400" b="1" dirty="0" smtClean="0"/>
              <a:t>2. Text </a:t>
            </a:r>
            <a:r>
              <a:rPr lang="en-US" sz="1400" b="1" dirty="0"/>
              <a:t>Preprocessing</a:t>
            </a:r>
            <a:r>
              <a:rPr lang="en-US" sz="1400" dirty="0"/>
              <a:t> </a:t>
            </a:r>
            <a:r>
              <a:rPr lang="en-US" sz="1400" dirty="0" smtClean="0"/>
              <a:t>:</a:t>
            </a:r>
            <a:endParaRPr lang="en-US" sz="1400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Convert text to lowercase.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Remove punctuation and special characters.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Remove </a:t>
            </a:r>
            <a:r>
              <a:rPr lang="en-US" dirty="0" err="1"/>
              <a:t>stopwords</a:t>
            </a:r>
            <a:r>
              <a:rPr lang="en-US" dirty="0"/>
              <a:t>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Apply stemming. </a:t>
            </a:r>
          </a:p>
          <a:p>
            <a:pPr marL="123444" indent="0">
              <a:buNone/>
            </a:pPr>
            <a:r>
              <a:rPr lang="en-US" sz="1400" b="1" dirty="0" smtClean="0"/>
              <a:t>3. TF-IDF </a:t>
            </a:r>
            <a:r>
              <a:rPr lang="en-US" sz="1400" b="1" dirty="0" err="1"/>
              <a:t>Vectorization</a:t>
            </a:r>
            <a:r>
              <a:rPr lang="en-US" sz="1400" dirty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Convert cleaned text into numerical feature </a:t>
            </a:r>
            <a:r>
              <a:rPr lang="en-US" dirty="0" smtClean="0"/>
              <a:t>vectors</a:t>
            </a:r>
            <a:endParaRPr b="1" u="sng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c41472df_0_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57143"/>
              <a:buFont typeface="Arial"/>
              <a:buNone/>
            </a:pPr>
            <a:endParaRPr dirty="0"/>
          </a:p>
          <a:p>
            <a:pPr>
              <a:buClr>
                <a:schemeClr val="dk1"/>
              </a:buClr>
              <a:buSzPct val="39286"/>
            </a:pP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accent1"/>
                </a:solidFill>
              </a:rPr>
              <a:t>Working </a:t>
            </a:r>
            <a:r>
              <a:rPr lang="en-US" b="1" dirty="0">
                <a:solidFill>
                  <a:schemeClr val="accent1"/>
                </a:solidFill>
              </a:rPr>
              <a:t>of the </a:t>
            </a:r>
            <a:r>
              <a:rPr lang="en-US" b="1" dirty="0" smtClean="0">
                <a:solidFill>
                  <a:schemeClr val="accent1"/>
                </a:solidFill>
              </a:rPr>
              <a:t>Algorithm: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52" name="Google Shape;152;g3e0c41472df_0_11"/>
          <p:cNvSpPr txBox="1">
            <a:spLocks noGrp="1"/>
          </p:cNvSpPr>
          <p:nvPr>
            <p:ph type="body" idx="1"/>
          </p:nvPr>
        </p:nvSpPr>
        <p:spPr>
          <a:xfrm>
            <a:off x="581192" y="1302026"/>
            <a:ext cx="11029500" cy="4673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3444" indent="0">
              <a:buNone/>
            </a:pPr>
            <a:r>
              <a:rPr lang="en-US" b="1" dirty="0" smtClean="0"/>
              <a:t>4. Model </a:t>
            </a:r>
            <a:r>
              <a:rPr lang="en-US" b="1" dirty="0"/>
              <a:t>Prediction</a:t>
            </a:r>
            <a:r>
              <a:rPr lang="en-US" dirty="0"/>
              <a:t> 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Logistic Regression calculates the probability of the news belonging to: </a:t>
            </a:r>
          </a:p>
          <a:p>
            <a:pPr lvl="2"/>
            <a:r>
              <a:rPr lang="en-US" dirty="0"/>
              <a:t>Real News (Class 0) </a:t>
            </a:r>
          </a:p>
          <a:p>
            <a:pPr lvl="2"/>
            <a:r>
              <a:rPr lang="en-US" dirty="0"/>
              <a:t>Fake News (Class 1) </a:t>
            </a:r>
          </a:p>
          <a:p>
            <a:pPr marL="123444" indent="0">
              <a:buNone/>
            </a:pPr>
            <a:r>
              <a:rPr lang="en-US" b="1" dirty="0" smtClean="0"/>
              <a:t>5. Classification</a:t>
            </a:r>
            <a:r>
              <a:rPr lang="en-US" dirty="0" smtClean="0"/>
              <a:t> :</a:t>
            </a:r>
            <a:endParaRPr lang="en-US" dirty="0"/>
          </a:p>
          <a:p>
            <a:pPr lvl="1"/>
            <a:r>
              <a:rPr lang="en-US" dirty="0"/>
              <a:t>If probability &gt; threshold: </a:t>
            </a:r>
          </a:p>
          <a:p>
            <a:pPr lvl="2"/>
            <a:r>
              <a:rPr lang="en-US" dirty="0"/>
              <a:t>Fake News </a:t>
            </a:r>
          </a:p>
          <a:p>
            <a:pPr lvl="1"/>
            <a:r>
              <a:rPr lang="en-US" dirty="0"/>
              <a:t>Otherwise: </a:t>
            </a:r>
          </a:p>
          <a:p>
            <a:pPr lvl="2"/>
            <a:r>
              <a:rPr lang="en-US" dirty="0"/>
              <a:t>Real News </a:t>
            </a:r>
          </a:p>
          <a:p>
            <a:pPr marL="123444" indent="0">
              <a:buNone/>
            </a:pPr>
            <a:r>
              <a:rPr lang="en-US" b="1" dirty="0" smtClean="0"/>
              <a:t>6. Display </a:t>
            </a:r>
            <a:r>
              <a:rPr lang="en-US" b="1" dirty="0"/>
              <a:t>Result</a:t>
            </a:r>
            <a:r>
              <a:rPr lang="en-US" dirty="0"/>
              <a:t> 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Show prediction and confidence score. 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0c41472df_0_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DEPLOYMENT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59" name="Google Shape;159;g3e0c41472df_0_18"/>
          <p:cNvSpPr txBox="1">
            <a:spLocks noGrp="1"/>
          </p:cNvSpPr>
          <p:nvPr>
            <p:ph type="body" idx="1"/>
          </p:nvPr>
        </p:nvSpPr>
        <p:spPr>
          <a:xfrm>
            <a:off x="581192" y="1302026"/>
            <a:ext cx="11029500" cy="4673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3444" indent="0">
              <a:buNone/>
            </a:pPr>
            <a:endParaRPr lang="en-US" b="1" dirty="0" smtClean="0"/>
          </a:p>
          <a:p>
            <a:pPr marL="123444" indent="0">
              <a:buNone/>
            </a:pPr>
            <a:r>
              <a:rPr lang="en-US" b="1" dirty="0" smtClean="0"/>
              <a:t>Deployment Platform :</a:t>
            </a:r>
            <a:endParaRPr lang="en-US" b="1" dirty="0"/>
          </a:p>
          <a:p>
            <a:pPr>
              <a:buFont typeface="Wingdings" pitchFamily="2" charset="2"/>
              <a:buChar char="§"/>
            </a:pPr>
            <a:r>
              <a:rPr lang="en-US" dirty="0" err="1"/>
              <a:t>Streamlit</a:t>
            </a:r>
            <a:r>
              <a:rPr lang="en-US" dirty="0"/>
              <a:t> Community Cloud </a:t>
            </a:r>
          </a:p>
          <a:p>
            <a:pPr marL="123444" indent="0">
              <a:buNone/>
            </a:pPr>
            <a:r>
              <a:rPr lang="en-US" b="1" dirty="0"/>
              <a:t>Deployment </a:t>
            </a:r>
            <a:r>
              <a:rPr lang="en-US" b="1" dirty="0" smtClean="0"/>
              <a:t>Steps :</a:t>
            </a:r>
            <a:endParaRPr lang="en-US" b="1" dirty="0"/>
          </a:p>
          <a:p>
            <a:pPr marL="123444" indent="0">
              <a:buNone/>
            </a:pPr>
            <a:r>
              <a:rPr lang="en-US" b="1" dirty="0" smtClean="0"/>
              <a:t>      	Step </a:t>
            </a:r>
            <a:r>
              <a:rPr lang="en-US" b="1" dirty="0"/>
              <a:t>1: Train the Model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Train Logistic Regression model using Fake.csv and True.csv datasets.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Save trained model using Pickle.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Files Generated: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Fake-news-</a:t>
            </a:r>
            <a:r>
              <a:rPr lang="en-US" dirty="0" err="1" smtClean="0"/>
              <a:t>model.pkl</a:t>
            </a:r>
            <a:r>
              <a:rPr lang="en-US" dirty="0" smtClean="0"/>
              <a:t>, </a:t>
            </a:r>
            <a:r>
              <a:rPr lang="en-US" dirty="0" err="1" smtClean="0"/>
              <a:t>vectorizer.pkl</a:t>
            </a:r>
            <a:endParaRPr lang="en-US" dirty="0" smtClean="0"/>
          </a:p>
          <a:p>
            <a:pPr marL="123444" indent="0">
              <a:buNone/>
            </a:pPr>
            <a:r>
              <a:rPr lang="en-US" b="1" dirty="0" smtClean="0"/>
              <a:t>	Step </a:t>
            </a:r>
            <a:r>
              <a:rPr lang="en-US" b="1" dirty="0"/>
              <a:t>2: Develop Web Application</a:t>
            </a:r>
          </a:p>
          <a:p>
            <a:r>
              <a:rPr lang="en-US" dirty="0"/>
              <a:t>Create a </a:t>
            </a:r>
            <a:r>
              <a:rPr lang="en-US" dirty="0" err="1"/>
              <a:t>Streamlit</a:t>
            </a:r>
            <a:r>
              <a:rPr lang="en-US" dirty="0"/>
              <a:t> application (app.py). </a:t>
            </a:r>
          </a:p>
          <a:p>
            <a:r>
              <a:rPr lang="en-US" dirty="0"/>
              <a:t>Load saved model and </a:t>
            </a:r>
            <a:r>
              <a:rPr lang="en-US" dirty="0" err="1"/>
              <a:t>vectorizer</a:t>
            </a:r>
            <a:r>
              <a:rPr lang="en-US" dirty="0"/>
              <a:t>. </a:t>
            </a:r>
          </a:p>
          <a:p>
            <a:r>
              <a:rPr lang="en-US" dirty="0"/>
              <a:t>Design user interface for news input and prediction. 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DEPLOYMENT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23444" indent="0">
              <a:buNone/>
            </a:pPr>
            <a:r>
              <a:rPr lang="en-US" b="1" dirty="0" smtClean="0"/>
              <a:t>	</a:t>
            </a:r>
          </a:p>
          <a:p>
            <a:pPr marL="123444" indent="0">
              <a:buNone/>
            </a:pPr>
            <a:r>
              <a:rPr lang="en-US" b="1" dirty="0" smtClean="0"/>
              <a:t>Step </a:t>
            </a:r>
            <a:r>
              <a:rPr lang="en-US" b="1" dirty="0"/>
              <a:t>3: Create </a:t>
            </a:r>
            <a:r>
              <a:rPr lang="en-US" b="1" dirty="0" err="1"/>
              <a:t>GitHub</a:t>
            </a:r>
            <a:r>
              <a:rPr lang="en-US" b="1" dirty="0"/>
              <a:t> </a:t>
            </a:r>
            <a:r>
              <a:rPr lang="en-US" b="1" dirty="0" smtClean="0"/>
              <a:t>Repository:</a:t>
            </a:r>
            <a:endParaRPr lang="en-US" b="1" dirty="0"/>
          </a:p>
          <a:p>
            <a:r>
              <a:rPr lang="en-US" dirty="0"/>
              <a:t>Upload project files: </a:t>
            </a:r>
          </a:p>
          <a:p>
            <a:r>
              <a:rPr lang="en-US" dirty="0" smtClean="0"/>
              <a:t>app.py, fake-news-</a:t>
            </a:r>
            <a:r>
              <a:rPr lang="en-US" dirty="0" err="1" smtClean="0"/>
              <a:t>model.pkl</a:t>
            </a:r>
            <a:r>
              <a:rPr lang="en-US" dirty="0" smtClean="0"/>
              <a:t>, </a:t>
            </a:r>
            <a:r>
              <a:rPr lang="en-US" dirty="0" err="1" smtClean="0"/>
              <a:t>vectorizer.pkl</a:t>
            </a:r>
            <a:r>
              <a:rPr lang="en-US" dirty="0" smtClean="0"/>
              <a:t>, requirements.txt, README.md</a:t>
            </a:r>
            <a:endParaRPr lang="en-US" dirty="0"/>
          </a:p>
          <a:p>
            <a:pPr marL="123444" indent="0">
              <a:buNone/>
            </a:pPr>
            <a:r>
              <a:rPr lang="en-US" b="1" dirty="0" smtClean="0"/>
              <a:t>	Step </a:t>
            </a:r>
            <a:r>
              <a:rPr lang="en-US" b="1" dirty="0"/>
              <a:t>4: Connect </a:t>
            </a:r>
            <a:r>
              <a:rPr lang="en-US" b="1" dirty="0" err="1"/>
              <a:t>GitHub</a:t>
            </a:r>
            <a:r>
              <a:rPr lang="en-US" b="1" dirty="0"/>
              <a:t> with </a:t>
            </a:r>
            <a:r>
              <a:rPr lang="en-US" b="1" dirty="0" err="1"/>
              <a:t>Streamlit</a:t>
            </a:r>
            <a:r>
              <a:rPr lang="en-US" b="1" dirty="0"/>
              <a:t> </a:t>
            </a:r>
            <a:r>
              <a:rPr lang="en-US" b="1" dirty="0" smtClean="0"/>
              <a:t>Cloud :</a:t>
            </a:r>
            <a:endParaRPr lang="en-US" b="1" dirty="0"/>
          </a:p>
          <a:p>
            <a:r>
              <a:rPr lang="en-US" dirty="0"/>
              <a:t>Sign in to </a:t>
            </a:r>
            <a:r>
              <a:rPr lang="en-US" dirty="0" err="1"/>
              <a:t>Streamlit</a:t>
            </a:r>
            <a:r>
              <a:rPr lang="en-US" dirty="0"/>
              <a:t> Community Cloud using </a:t>
            </a:r>
            <a:r>
              <a:rPr lang="en-US" dirty="0" err="1"/>
              <a:t>GitHub</a:t>
            </a:r>
            <a:r>
              <a:rPr lang="en-US" dirty="0"/>
              <a:t>. </a:t>
            </a:r>
          </a:p>
          <a:p>
            <a:r>
              <a:rPr lang="en-US" dirty="0"/>
              <a:t>Select repository and branch. </a:t>
            </a:r>
          </a:p>
          <a:p>
            <a:pPr marL="123444" indent="0">
              <a:buNone/>
            </a:pPr>
            <a:r>
              <a:rPr lang="en-US" b="1" dirty="0" smtClean="0"/>
              <a:t>	Step </a:t>
            </a:r>
            <a:r>
              <a:rPr lang="en-US" b="1" dirty="0"/>
              <a:t>5: Deploy </a:t>
            </a:r>
            <a:r>
              <a:rPr lang="en-US" b="1" dirty="0" smtClean="0"/>
              <a:t>Application :</a:t>
            </a:r>
            <a:endParaRPr lang="en-US" b="1" dirty="0"/>
          </a:p>
          <a:p>
            <a:r>
              <a:rPr lang="en-US" dirty="0"/>
              <a:t>Specify: </a:t>
            </a:r>
            <a:r>
              <a:rPr lang="en-US" dirty="0" smtClean="0"/>
              <a:t>Repository</a:t>
            </a:r>
            <a:r>
              <a:rPr lang="en-US" dirty="0"/>
              <a:t>: </a:t>
            </a:r>
            <a:r>
              <a:rPr lang="en-US" dirty="0" smtClean="0"/>
              <a:t>Fake-News-Prediction, Branch</a:t>
            </a:r>
            <a:r>
              <a:rPr lang="en-US" dirty="0"/>
              <a:t>: </a:t>
            </a:r>
            <a:r>
              <a:rPr lang="en-US" dirty="0" smtClean="0"/>
              <a:t>main, Main </a:t>
            </a:r>
            <a:r>
              <a:rPr lang="en-US" dirty="0"/>
              <a:t>File: app.py</a:t>
            </a:r>
          </a:p>
          <a:p>
            <a:r>
              <a:rPr lang="en-US" dirty="0"/>
              <a:t>Click Deploy. </a:t>
            </a:r>
          </a:p>
          <a:p>
            <a:pPr marL="123444" indent="0">
              <a:buNone/>
            </a:pPr>
            <a:r>
              <a:rPr lang="en-US" b="1" dirty="0" smtClean="0"/>
              <a:t>	Step </a:t>
            </a:r>
            <a:r>
              <a:rPr lang="en-US" b="1" dirty="0"/>
              <a:t>6: Generate Public </a:t>
            </a:r>
            <a:r>
              <a:rPr lang="en-US" b="1" dirty="0" smtClean="0"/>
              <a:t>URL:</a:t>
            </a:r>
            <a:endParaRPr lang="en-US" b="1" dirty="0"/>
          </a:p>
          <a:p>
            <a:r>
              <a:rPr lang="en-US" dirty="0" err="1"/>
              <a:t>Streamlit</a:t>
            </a:r>
            <a:r>
              <a:rPr lang="en-US" dirty="0"/>
              <a:t> creates a public link. </a:t>
            </a:r>
          </a:p>
          <a:p>
            <a:r>
              <a:rPr lang="en-US" dirty="0" smtClean="0"/>
              <a:t>Example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https://fakenewsprediction-bypcfqzvadveqzfzvx6tkd.streamlit.app/</a:t>
            </a:r>
            <a:endParaRPr lang="en-US" dirty="0"/>
          </a:p>
          <a:p>
            <a:pPr marL="123444" indent="0">
              <a:buNone/>
            </a:pPr>
            <a:r>
              <a:rPr lang="en-US" b="1" dirty="0" smtClean="0"/>
              <a:t>	Step </a:t>
            </a:r>
            <a:r>
              <a:rPr lang="en-US" b="1" dirty="0"/>
              <a:t>7: User </a:t>
            </a:r>
            <a:r>
              <a:rPr lang="en-US" b="1" dirty="0" smtClean="0"/>
              <a:t>Access:</a:t>
            </a:r>
            <a:endParaRPr lang="en-US" b="1" dirty="0"/>
          </a:p>
          <a:p>
            <a:r>
              <a:rPr lang="en-US" dirty="0"/>
              <a:t>Users open the URL. </a:t>
            </a:r>
          </a:p>
          <a:p>
            <a:r>
              <a:rPr lang="en-US" dirty="0"/>
              <a:t>Enter news text. </a:t>
            </a:r>
          </a:p>
          <a:p>
            <a:r>
              <a:rPr lang="en-US" dirty="0"/>
              <a:t>Click "Check News". </a:t>
            </a:r>
          </a:p>
          <a:p>
            <a:r>
              <a:rPr lang="en-US" dirty="0"/>
              <a:t>Receive prediction results instantly. </a:t>
            </a:r>
          </a:p>
          <a:p>
            <a:pPr marL="123444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50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ARCHITECTURE WORKFLOW: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3444" indent="0">
              <a:buNone/>
            </a:pPr>
            <a:endParaRPr lang="en-US" dirty="0"/>
          </a:p>
        </p:txBody>
      </p:sp>
      <p:pic>
        <p:nvPicPr>
          <p:cNvPr id="1026" name="Picture 2" descr="C:\Users\HP\OneDrive\Pictures\Screenshots\Screenshot 2026-06-13 2118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11097425" cy="466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24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PROJECT BLUEPRINT: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3444" indent="0">
              <a:buNone/>
            </a:pPr>
            <a:endParaRPr lang="en-US" dirty="0"/>
          </a:p>
        </p:txBody>
      </p:sp>
      <p:pic>
        <p:nvPicPr>
          <p:cNvPr id="2050" name="Picture 2" descr="C:\Users\HP\OneDrive\Pictures\Screenshots\Screenshot 2026-06-13 2118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26022"/>
            <a:ext cx="11049000" cy="467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0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PROJECT SCREENSHOT: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94" y="1318190"/>
            <a:ext cx="11029615" cy="4673324"/>
          </a:xfrm>
        </p:spPr>
        <p:txBody>
          <a:bodyPr/>
          <a:lstStyle/>
          <a:p>
            <a:pPr marL="123444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	</a:t>
            </a:r>
          </a:p>
          <a:p>
            <a:pPr marL="123444" indent="0">
              <a:buNone/>
            </a:pPr>
            <a:r>
              <a:rPr lang="en-US" b="1" dirty="0">
                <a:solidFill>
                  <a:srgbClr val="FFC000"/>
                </a:solidFill>
              </a:rPr>
              <a:t>	</a:t>
            </a:r>
            <a:r>
              <a:rPr lang="en-US" b="1" dirty="0" smtClean="0">
                <a:solidFill>
                  <a:srgbClr val="FFC000"/>
                </a:solidFill>
              </a:rPr>
              <a:t>Model </a:t>
            </a:r>
            <a:r>
              <a:rPr lang="en-US" b="1" dirty="0">
                <a:solidFill>
                  <a:srgbClr val="FFC000"/>
                </a:solidFill>
              </a:rPr>
              <a:t>Accuracy</a:t>
            </a:r>
          </a:p>
          <a:p>
            <a:pPr marL="123444" indent="0">
              <a:buNone/>
            </a:pP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3074" name="Picture 2" descr="C:\Users\HP\OneDrive\Pictures\Screenshots\Screenshot 2026-06-13 2132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19" y="1366837"/>
            <a:ext cx="4137588" cy="2182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HP\OneDrive\Pictures\Screenshots\Screenshot 2026-06-13 21274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58013"/>
            <a:ext cx="4267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HP\OneDrive\Pictures\Screenshots\Screenshot 2026-06-13 2128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238" y="1326735"/>
            <a:ext cx="4419600" cy="196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HP\OneDrive\Pictures\Screenshots\Screenshot 2026-06-13 21284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7600"/>
            <a:ext cx="53181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274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 dirty="0" smtClean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 dirty="0"/>
          </a:p>
        </p:txBody>
      </p:sp>
      <p:sp>
        <p:nvSpPr>
          <p:cNvPr id="165" name="Google Shape;165;p7"/>
          <p:cNvSpPr txBox="1">
            <a:spLocks noGrp="1"/>
          </p:cNvSpPr>
          <p:nvPr>
            <p:ph type="body" idx="1"/>
          </p:nvPr>
        </p:nvSpPr>
        <p:spPr>
          <a:xfrm>
            <a:off x="533400" y="1524000"/>
            <a:ext cx="11281800" cy="5543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23444" indent="0">
              <a:buNone/>
            </a:pPr>
            <a:r>
              <a:rPr lang="en-US" sz="1400" b="1" dirty="0" smtClean="0"/>
              <a:t>Experimental Results:</a:t>
            </a:r>
            <a:endParaRPr lang="en-US" sz="1400" b="1" dirty="0"/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Successfully collected and processed Real and Fake News datasets.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Applied NLP preprocessing techniques including text cleaning, </a:t>
            </a:r>
            <a:r>
              <a:rPr lang="en-US" sz="1400" dirty="0" err="1"/>
              <a:t>stopword</a:t>
            </a:r>
            <a:r>
              <a:rPr lang="en-US" sz="1400" dirty="0"/>
              <a:t> removal, and stemming.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Converted text data into numerical form using TF-IDF </a:t>
            </a:r>
            <a:r>
              <a:rPr lang="en-US" sz="1400" dirty="0" err="1"/>
              <a:t>Vectorization</a:t>
            </a:r>
            <a:r>
              <a:rPr lang="en-US" sz="1400" dirty="0"/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Trained a Logistic Regression model for news classification.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Developed a user-friendly </a:t>
            </a:r>
            <a:r>
              <a:rPr lang="en-US" sz="1400" dirty="0" err="1"/>
              <a:t>Streamlit</a:t>
            </a:r>
            <a:r>
              <a:rPr lang="en-US" sz="1400" dirty="0"/>
              <a:t> web application.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Successfully deployed the application on </a:t>
            </a:r>
            <a:r>
              <a:rPr lang="en-US" sz="1400" dirty="0" err="1"/>
              <a:t>Streamlit</a:t>
            </a:r>
            <a:r>
              <a:rPr lang="en-US" sz="1400" dirty="0"/>
              <a:t> Community Cloud. </a:t>
            </a:r>
          </a:p>
          <a:p>
            <a:pPr marL="123444" indent="0">
              <a:buNone/>
            </a:pPr>
            <a:r>
              <a:rPr lang="en-US" sz="1400" b="1" dirty="0"/>
              <a:t>Performance </a:t>
            </a:r>
            <a:r>
              <a:rPr lang="en-US" sz="1400" b="1" dirty="0" smtClean="0"/>
              <a:t>Results:</a:t>
            </a:r>
            <a:endParaRPr lang="en-US" sz="1400" b="1" dirty="0"/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Training Accuracy: </a:t>
            </a:r>
            <a:r>
              <a:rPr lang="en-US" sz="1400" b="1" dirty="0"/>
              <a:t>~99%</a:t>
            </a:r>
            <a:r>
              <a:rPr lang="en-US" sz="1400" dirty="0"/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Testing Accuracy: </a:t>
            </a:r>
            <a:r>
              <a:rPr lang="en-US" sz="1400" b="1" dirty="0"/>
              <a:t>~98-99%</a:t>
            </a:r>
            <a:r>
              <a:rPr lang="en-US" sz="1400" dirty="0"/>
              <a:t> </a:t>
            </a:r>
            <a:r>
              <a:rPr lang="en-US" sz="1400" i="1" dirty="0"/>
              <a:t>(use your actual accuracy if available)</a:t>
            </a:r>
            <a:r>
              <a:rPr lang="en-US" sz="1400" dirty="0"/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Model effectively classified news articles as Real or Fake.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Generated confidence scores for prediction reliability. </a:t>
            </a:r>
          </a:p>
          <a:p>
            <a:pPr marL="123444" indent="0">
              <a:buNone/>
            </a:pPr>
            <a:r>
              <a:rPr lang="en-US" sz="1400" b="1" dirty="0"/>
              <a:t>Deployment </a:t>
            </a:r>
            <a:r>
              <a:rPr lang="en-US" sz="1400" b="1" dirty="0" smtClean="0"/>
              <a:t>Result:</a:t>
            </a:r>
            <a:endParaRPr lang="en-US" sz="1400" b="1" dirty="0"/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Publicly accessible web application developed and deployed.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Users can input news text and instantly receive classification results. </a:t>
            </a:r>
          </a:p>
          <a:p>
            <a:pPr>
              <a:buFont typeface="Wingdings" pitchFamily="2" charset="2"/>
              <a:buChar char="ü"/>
            </a:pPr>
            <a:r>
              <a:rPr lang="en-US" sz="1400" dirty="0"/>
              <a:t>Application successfully integrates Machine Learning and Web Deployment.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accent1"/>
                </a:solidFill>
              </a:rPr>
              <a:t>MODEL PREDICTION: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:\Users\HP\OneDrive\Pictures\Screenshots\Screenshot 2026-06-13 2131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5852069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HP\OneDrive\Pictures\Screenshots\Screenshot 2026-06-13 21282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470" y="1333145"/>
            <a:ext cx="5213406" cy="461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2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chemeClr val="accent1"/>
                </a:solidFill>
              </a:rPr>
              <a:t>WEB APPLICATION INTERFACE &amp; LIVE PREDICTION RESULT: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HP\OneDrive\Pictures\Screenshots\Screenshot 2026-06-13 21304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87565"/>
            <a:ext cx="3657600" cy="472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HP\OneDrive\Pictures\Screenshots\Screenshot 2026-06-13 14215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87566"/>
            <a:ext cx="3657600" cy="472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HP\OneDrive\Pictures\Screenshots\Screenshot 2026-06-13 14222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62" y="1331718"/>
            <a:ext cx="3503063" cy="465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HP\OneDrive\Pictures\Screenshots\Screenshot 2026-06-13 21572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37" y="1269762"/>
            <a:ext cx="3678963" cy="471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54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Cloud </a:t>
            </a:r>
            <a:r>
              <a:rPr lang="en-US" dirty="0" smtClean="0">
                <a:solidFill>
                  <a:schemeClr val="accent1"/>
                </a:solidFill>
              </a:rPr>
              <a:t>Deployment &amp; </a:t>
            </a:r>
            <a:r>
              <a:rPr lang="en-US" b="1" dirty="0" err="1" smtClean="0">
                <a:solidFill>
                  <a:schemeClr val="accent1"/>
                </a:solidFill>
              </a:rPr>
              <a:t>GitHub</a:t>
            </a:r>
            <a:r>
              <a:rPr lang="en-US" b="1" dirty="0" smtClean="0">
                <a:solidFill>
                  <a:schemeClr val="accent1"/>
                </a:solidFill>
              </a:rPr>
              <a:t> Repository 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C:\Users\HP\OneDrive\Pictures\Screenshots\Screenshot 2026-06-13 21304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86856"/>
            <a:ext cx="542373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HP\OneDrive\Pictures\Screenshots\Screenshot 2026-06-13 22024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95401"/>
            <a:ext cx="5029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204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Future </a:t>
            </a:r>
            <a:r>
              <a:rPr lang="en-US" dirty="0" smtClean="0">
                <a:solidFill>
                  <a:schemeClr val="accent1"/>
                </a:solidFill>
              </a:rPr>
              <a:t>Scope: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23444" indent="0">
              <a:buNone/>
            </a:pPr>
            <a:r>
              <a:rPr lang="en-US" b="1" dirty="0"/>
              <a:t>1. Real-Time Fact </a:t>
            </a:r>
            <a:r>
              <a:rPr lang="en-US" b="1" dirty="0" smtClean="0"/>
              <a:t>Checking: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Integrate news APIs and fact-checking websites.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Verify news content against trusted sources.</a:t>
            </a:r>
          </a:p>
          <a:p>
            <a:pPr marL="123444" indent="0">
              <a:buNone/>
            </a:pPr>
            <a:r>
              <a:rPr lang="en-US" b="1" dirty="0"/>
              <a:t>2. Deep Learning </a:t>
            </a:r>
            <a:r>
              <a:rPr lang="en-US" b="1" dirty="0" smtClean="0"/>
              <a:t>Models 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Implement advanced models such as: LSTM, GRU, BERT, </a:t>
            </a:r>
            <a:r>
              <a:rPr lang="en-US" dirty="0" err="1"/>
              <a:t>RoBERTa</a:t>
            </a:r>
            <a:r>
              <a:rPr lang="en-US" dirty="0"/>
              <a:t>, Transformers</a:t>
            </a:r>
          </a:p>
          <a:p>
            <a:pPr marL="123444" indent="0">
              <a:buNone/>
            </a:pPr>
            <a:r>
              <a:rPr lang="en-US" b="1" dirty="0"/>
              <a:t>3. Multi-Language </a:t>
            </a:r>
            <a:r>
              <a:rPr lang="en-US" b="1" dirty="0" smtClean="0"/>
              <a:t>Support: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Detect fake news in: English, Hindi, Bengali, Other regional languages</a:t>
            </a:r>
          </a:p>
          <a:p>
            <a:pPr marL="123444" indent="0">
              <a:buNone/>
            </a:pPr>
            <a:r>
              <a:rPr lang="en-US" b="1" dirty="0"/>
              <a:t>4. News URL </a:t>
            </a:r>
            <a:r>
              <a:rPr lang="en-US" b="1" dirty="0" smtClean="0"/>
              <a:t>Verification: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Allow users to submit article URLs instead of only text.</a:t>
            </a:r>
          </a:p>
          <a:p>
            <a:pPr marL="123444" indent="0">
              <a:buNone/>
            </a:pPr>
            <a:r>
              <a:rPr lang="en-US" b="1" dirty="0"/>
              <a:t>5. Image and Video </a:t>
            </a:r>
            <a:r>
              <a:rPr lang="en-US" b="1" dirty="0" smtClean="0"/>
              <a:t>Verification: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Detect manipulated images and </a:t>
            </a:r>
            <a:r>
              <a:rPr lang="en-US" dirty="0" err="1"/>
              <a:t>deepfake</a:t>
            </a:r>
            <a:r>
              <a:rPr lang="en-US" dirty="0"/>
              <a:t> videos.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Develop a multimodal fake news detection system.</a:t>
            </a:r>
          </a:p>
          <a:p>
            <a:pPr marL="123444" indent="0">
              <a:buNone/>
            </a:pPr>
            <a:r>
              <a:rPr lang="en-US" b="1" dirty="0"/>
              <a:t>6. Browser </a:t>
            </a:r>
            <a:r>
              <a:rPr lang="en-US" b="1" dirty="0" smtClean="0"/>
              <a:t>Extension: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Create a Chrome Extension for real-time fake news alerts.</a:t>
            </a:r>
          </a:p>
          <a:p>
            <a:pPr marL="123444" indent="0">
              <a:buNone/>
            </a:pPr>
            <a:r>
              <a:rPr lang="en-US" b="1" dirty="0"/>
              <a:t>7. Mobile </a:t>
            </a:r>
            <a:r>
              <a:rPr lang="en-US" b="1" dirty="0" smtClean="0"/>
              <a:t>Application: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Develop Android and </a:t>
            </a:r>
            <a:r>
              <a:rPr lang="en-US" dirty="0" err="1"/>
              <a:t>iOS</a:t>
            </a:r>
            <a:r>
              <a:rPr lang="en-US" dirty="0"/>
              <a:t> versions of the application.</a:t>
            </a:r>
          </a:p>
          <a:p>
            <a:pPr marL="123444" indent="0">
              <a:buNone/>
            </a:pPr>
            <a:r>
              <a:rPr lang="en-US" b="1" dirty="0"/>
              <a:t>8. Social Media </a:t>
            </a:r>
            <a:r>
              <a:rPr lang="en-US" b="1" dirty="0" smtClean="0"/>
              <a:t>Integration: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Detect misinformation on </a:t>
            </a:r>
            <a:r>
              <a:rPr lang="en-US" dirty="0" smtClean="0"/>
              <a:t>platforms </a:t>
            </a:r>
            <a:r>
              <a:rPr lang="en-US" dirty="0"/>
              <a:t>such as: X (Twitter), </a:t>
            </a:r>
            <a:r>
              <a:rPr lang="en-US" dirty="0" err="1"/>
              <a:t>Facebook,Instagram,YouTube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40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 dirty="0" smtClean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 dirty="0"/>
          </a:p>
        </p:txBody>
      </p:sp>
      <p:sp>
        <p:nvSpPr>
          <p:cNvPr id="177" name="Google Shape;177;p10"/>
          <p:cNvSpPr txBox="1"/>
          <p:nvPr/>
        </p:nvSpPr>
        <p:spPr>
          <a:xfrm>
            <a:off x="668875" y="1232450"/>
            <a:ext cx="110295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 TensorFlow Documentation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/>
              </a:rPr>
              <a:t>https://www.tensorflow.org/](https://www.tensorflow.org/)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Keras Documentation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/>
              </a:rPr>
              <a:t>https://keras.io/](https://keras.io/)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 NLTK Documentation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5"/>
              </a:rPr>
              <a:t>https://www.nltk.org/](https://www.nltk.org/)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 Scikit-learn Documentation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6"/>
              </a:rPr>
              <a:t>https://scikit-learn.org/](https://scikit-learn.org/)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5. GloVe Word Embeddings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7"/>
              </a:rPr>
              <a:t>https://nlp.stanford.edu/projects/glove/](https://nlp.stanford.edu/projects/glove/)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6. Kaggle Fake News Dataset – [</a:t>
            </a:r>
            <a:r>
              <a:rPr lang="en-US" sz="18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8"/>
              </a:rPr>
              <a:t>https://www.kaggle.com/](https://www.kaggle.com/)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7. Research papers on Fake News Detection using NLP and Deep Learning.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753900" y="1683411"/>
            <a:ext cx="1068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508725" y="1499200"/>
            <a:ext cx="11029500" cy="4712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940"/>
              </a:spcBef>
              <a:buNone/>
            </a:pPr>
            <a:r>
              <a:rPr lang="en-US" b="1" dirty="0" smtClean="0"/>
              <a:t>GITHUB LINK </a:t>
            </a:r>
            <a:r>
              <a:rPr lang="en-US" b="1" dirty="0"/>
              <a:t>: </a:t>
            </a:r>
            <a:r>
              <a:rPr lang="en-US" b="1" dirty="0" smtClean="0">
                <a:hlinkClick r:id="rId3" action="ppaction://hlinksldjump"/>
              </a:rPr>
              <a:t>https://github.com/Ipsita20262005/Fake_News_Prediction.git</a:t>
            </a:r>
            <a:endParaRPr lang="en-US" b="1" dirty="0" smtClean="0"/>
          </a:p>
          <a:p>
            <a:pPr marL="0" lvl="0" indent="0">
              <a:spcBef>
                <a:spcPts val="940"/>
              </a:spcBef>
              <a:buNone/>
            </a:pPr>
            <a:r>
              <a:rPr lang="en-US" b="1" dirty="0" smtClean="0"/>
              <a:t>DEPLOYMENT LINK: </a:t>
            </a:r>
            <a:r>
              <a:rPr lang="en-US" b="1" dirty="0" smtClean="0">
                <a:hlinkClick r:id="rId3" action="ppaction://hlinksldjump"/>
              </a:rPr>
              <a:t>https://fakenewsprediction-bypcfqzvadveqzfzvx6tkd.streamlit.app/</a:t>
            </a:r>
            <a:endParaRPr b="1" dirty="0"/>
          </a:p>
        </p:txBody>
      </p:sp>
      <p:sp>
        <p:nvSpPr>
          <p:cNvPr id="184" name="Google Shape;184;p11"/>
          <p:cNvSpPr txBox="1"/>
          <p:nvPr/>
        </p:nvSpPr>
        <p:spPr>
          <a:xfrm>
            <a:off x="508725" y="647991"/>
            <a:ext cx="10861500" cy="55396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GITHUB </a:t>
            </a:r>
            <a:r>
              <a:rPr lang="en-US" sz="2400" b="1" dirty="0" smtClean="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LINK &amp; </a:t>
            </a:r>
            <a:r>
              <a:rPr lang="en-US" sz="2400" b="1" dirty="0">
                <a:solidFill>
                  <a:schemeClr val="accent1"/>
                </a:solidFill>
              </a:rPr>
              <a:t>DEPLOYMENT LINK </a:t>
            </a:r>
            <a:r>
              <a:rPr lang="en-US" sz="2400" b="1" dirty="0" smtClean="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sz="2400" b="1" dirty="0">
              <a:solidFill>
                <a:schemeClr val="accen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44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1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000" dirty="0" smtClean="0"/>
              <a:t> </a:t>
            </a:r>
            <a:r>
              <a:rPr lang="en-US" sz="2000" dirty="0"/>
              <a:t>A Machine Learning-based Fake News Detection System was successfully developed using Natural Language Processing (NLP) techniques. </a:t>
            </a:r>
          </a:p>
          <a:p>
            <a:r>
              <a:rPr lang="en-US" sz="2000" dirty="0"/>
              <a:t>TF-IDF </a:t>
            </a:r>
            <a:r>
              <a:rPr lang="en-US" sz="2000" dirty="0" err="1"/>
              <a:t>Vectorization</a:t>
            </a:r>
            <a:r>
              <a:rPr lang="en-US" sz="2000" dirty="0"/>
              <a:t> and Logistic Regression effectively identified patterns in news articles and classified them as Real or Fake. </a:t>
            </a:r>
          </a:p>
          <a:p>
            <a:r>
              <a:rPr lang="en-US" sz="2000" dirty="0"/>
              <a:t>The developed </a:t>
            </a:r>
            <a:r>
              <a:rPr lang="en-US" sz="2000" dirty="0" err="1"/>
              <a:t>Streamlit</a:t>
            </a:r>
            <a:r>
              <a:rPr lang="en-US" sz="2000" dirty="0"/>
              <a:t> web application provides a simple and interactive interface for users. </a:t>
            </a:r>
          </a:p>
          <a:p>
            <a:r>
              <a:rPr lang="en-US" sz="2000" dirty="0"/>
              <a:t>The model demonstrated high accuracy and reliable performance on unseen news data. </a:t>
            </a:r>
          </a:p>
          <a:p>
            <a:r>
              <a:rPr lang="en-US" sz="2000" dirty="0"/>
              <a:t>This project highlights how Artificial Intelligence can assist in combating misinformation and improving information credibility. </a:t>
            </a:r>
          </a:p>
          <a:p>
            <a:pPr marL="305435" lvl="0" indent="-18859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lang="en-US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1290</Words>
  <Application>Microsoft Office PowerPoint</Application>
  <PresentationFormat>Custom</PresentationFormat>
  <Paragraphs>278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Noto Sans Symbols</vt:lpstr>
      <vt:lpstr>Wingdings</vt:lpstr>
      <vt:lpstr>Arial Unicode MS</vt:lpstr>
      <vt:lpstr>Libre Franklin</vt:lpstr>
      <vt:lpstr>Franklin Gothic</vt:lpstr>
      <vt:lpstr>Calibri</vt:lpstr>
      <vt:lpstr>DividendVTI</vt:lpstr>
      <vt:lpstr>FAKE NEWS DETECTOR FOR STUDENTS</vt:lpstr>
      <vt:lpstr>OUTLINE:</vt:lpstr>
      <vt:lpstr>PROBLEM STATEMENT</vt:lpstr>
      <vt:lpstr>PROPOSED SOLUTION</vt:lpstr>
      <vt:lpstr>PROPOSED SOLUTION</vt:lpstr>
      <vt:lpstr>SYSTEM  APPROACH</vt:lpstr>
      <vt:lpstr>SYSTEM APPROACH:</vt:lpstr>
      <vt:lpstr>SYSTEM APPROACH:</vt:lpstr>
      <vt:lpstr>Technologies Used: </vt:lpstr>
      <vt:lpstr>ALGORITHM &amp; DEPLOYMENT</vt:lpstr>
      <vt:lpstr>      Working of the Algorithm:</vt:lpstr>
      <vt:lpstr>DEPLOYMENT</vt:lpstr>
      <vt:lpstr>DEPLOYMENT</vt:lpstr>
      <vt:lpstr>ARCHITECTURE WORKFLOW:</vt:lpstr>
      <vt:lpstr>PROJECT BLUEPRINT:</vt:lpstr>
      <vt:lpstr>PROJECT SCREENSHOT:</vt:lpstr>
      <vt:lpstr>RESULT:</vt:lpstr>
      <vt:lpstr>  MODEL PREDICTION:</vt:lpstr>
      <vt:lpstr>  WEB APPLICATION INTERFACE &amp; LIVE PREDICTION RESULT:</vt:lpstr>
      <vt:lpstr>Cloud Deployment &amp; GitHub Repository :</vt:lpstr>
      <vt:lpstr>Future Scope:</vt:lpstr>
      <vt:lpstr>REFERENCES: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DETECTOR FOR STUDENTS</dc:title>
  <dc:creator>Vaibhav Ostwal</dc:creator>
  <cp:lastModifiedBy>HP</cp:lastModifiedBy>
  <cp:revision>15</cp:revision>
  <dcterms:created xsi:type="dcterms:W3CDTF">2021-05-26T16:50:10Z</dcterms:created>
  <dcterms:modified xsi:type="dcterms:W3CDTF">2026-06-13T16:53:20Z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